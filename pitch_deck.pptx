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097280"/>
            <a:ext cx="4114800" cy="4114800"/>
          </a:xfrm>
          <a:prstGeom prst="ellipse">
            <a:avLst/>
          </a:prstGeom>
          <a:solidFill>
            <a:srgbClr val="2D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3840480"/>
            <a:ext cx="1645920" cy="1645920"/>
          </a:xfrm>
          <a:prstGeom prst="ellipse">
            <a:avLst/>
          </a:prstGeom>
          <a:solidFill>
            <a:srgbClr val="1F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411480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502920"/>
            <a:ext cx="1645920" cy="292608"/>
          </a:xfrm>
          <a:prstGeom prst="rect">
            <a:avLst/>
          </a:prstGeom>
          <a:solidFill>
            <a:srgbClr val="3D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1206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472B6"/>
                </a:solidFill>
                <a:latin typeface="Calibri"/>
              </a:rPr>
              <a:t>BNB CHAIN DEVTOOLS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1F2"/>
                </a:solidFill>
                <a:latin typeface="Calibri"/>
              </a:rPr>
              <a:t>Snapforge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2926080" cy="6400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472B6"/>
                </a:solidFill>
                <a:latin typeface="Calibri"/>
              </a:rPr>
              <a:t>Deterministic BNB Smart Chain forks in under 10 seconds — test against real state, not mocks.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5A7A"/>
                </a:solidFill>
                <a:latin typeface="Calibri"/>
              </a:rPr>
              <a:t>Continuously-synced, compressed BNB Chain mainnet snapshots. Clone a deterministic fork at any block in under 10 seconds — via CLI or GitHub Action.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72000"/>
            <a:ext cx="2560320" cy="822960"/>
          </a:xfrm>
          <a:prstGeom prst="rect">
            <a:avLst/>
          </a:prstGeom>
          <a:solidFill>
            <a:srgbClr val="25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572000"/>
            <a:ext cx="54864" cy="8229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6177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1F2"/>
                </a:solidFill>
                <a:latin typeface="Calibri"/>
              </a:rPr>
              <a:t>&lt; 10s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651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5A7A"/>
                </a:solidFill>
                <a:latin typeface="Calibri"/>
              </a:rPr>
              <a:t>Fork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4572000"/>
            <a:ext cx="2560320" cy="822960"/>
          </a:xfrm>
          <a:prstGeom prst="rect">
            <a:avLst/>
          </a:prstGeom>
          <a:solidFill>
            <a:srgbClr val="25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4572000"/>
            <a:ext cx="54864" cy="8229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6177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1F2"/>
                </a:solidFill>
                <a:latin typeface="Calibri"/>
              </a:rPr>
              <a:t>16x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9651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5A7A"/>
                </a:solidFill>
                <a:latin typeface="Calibri"/>
              </a:rPr>
              <a:t>Parallel CI Jobs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572000"/>
            <a:ext cx="2560320" cy="822960"/>
          </a:xfrm>
          <a:prstGeom prst="rect">
            <a:avLst/>
          </a:prstGeom>
          <a:solidFill>
            <a:srgbClr val="25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4572000"/>
            <a:ext cx="54864" cy="8229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6177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1F2"/>
                </a:solidFill>
                <a:latin typeface="Calibri"/>
              </a:rPr>
              <a:t>Zero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9651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5A7A"/>
                </a:solidFill>
                <a:latin typeface="Calibri"/>
              </a:rPr>
              <a:t>Test-Code Changes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20" y="457200"/>
            <a:ext cx="1828800" cy="347472"/>
          </a:xfrm>
          <a:prstGeom prst="rect">
            <a:avLst/>
          </a:prstGeom>
          <a:solidFill>
            <a:srgbClr val="3D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48672" y="475488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72B6"/>
                </a:solidFill>
                <a:latin typeface="Calibri"/>
              </a:rPr>
              <a:t>● BNB Smart Chain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75520" y="914400"/>
            <a:ext cx="1188720" cy="292608"/>
          </a:xfrm>
          <a:prstGeom prst="rect">
            <a:avLst/>
          </a:prstGeom>
          <a:solidFill>
            <a:srgbClr val="1F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0" y="932688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C542"/>
                </a:solidFill>
                <a:latin typeface="Calibri"/>
              </a:rPr>
              <a:t>MVP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5A7A"/>
                </a:solidFill>
                <a:latin typeface="Calibri"/>
              </a:rPr>
              <a:t>Founded by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5A7A"/>
                </a:solidFill>
                <a:latin typeface="Calibri"/>
              </a:rPr>
              <a:t>snapforge.dev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20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0" y="0"/>
            <a:ext cx="45720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0" y="4114800"/>
            <a:ext cx="3200400" cy="3200400"/>
          </a:xfrm>
          <a:prstGeom prst="ellipse">
            <a:avLst/>
          </a:prstGeom>
          <a:solidFill>
            <a:srgbClr val="2A0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3D1030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1F2"/>
                </a:solidFill>
                <a:latin typeface="Calibri"/>
              </a:rPr>
              <a:t>THE
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743200"/>
            <a:ext cx="182880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9260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5A7A"/>
                </a:solidFill>
                <a:latin typeface="Calibri"/>
              </a:rPr>
              <a:t>Every BNB Chain
developer faces this
every single day.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457200"/>
            <a:ext cx="3657600" cy="2651760"/>
          </a:xfrm>
          <a:prstGeom prst="rect">
            <a:avLst/>
          </a:prstGeom>
          <a:solidFill>
            <a:srgbClr val="25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457200"/>
            <a:ext cx="365760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62179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72B6"/>
                </a:solidFill>
                <a:latin typeface="Calibri"/>
              </a:rPr>
              <a:t>2–4 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078992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5A7A"/>
                </a:solidFill>
                <a:latin typeface="Calibri"/>
              </a:rPr>
              <a:t>A full hardhat_reset against BNB Chain mainnet RPC takes 2–4 minutes per CI run, turning a 10-test suite into a 40-minute pipeline.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3474720"/>
            <a:ext cx="3657600" cy="2651760"/>
          </a:xfrm>
          <a:prstGeom prst="rect">
            <a:avLst/>
          </a:prstGeom>
          <a:solidFill>
            <a:srgbClr val="25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3474720"/>
            <a:ext cx="365760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363931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72B6"/>
                </a:solidFill>
                <a:latin typeface="Calibri"/>
              </a:rPr>
              <a:t>RPC Rate Limits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096511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5A7A"/>
                </a:solidFill>
                <a:latin typeface="Calibri"/>
              </a:rPr>
              <a:t>Public BNB RPC nodes throttle eth_getStorageAt calls — parallel CI jobs race for rate-limit windows, causing flaky, non-deterministic test failures.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59" y="457200"/>
            <a:ext cx="3657600" cy="2651760"/>
          </a:xfrm>
          <a:prstGeom prst="rect">
            <a:avLst/>
          </a:prstGeom>
          <a:solidFill>
            <a:srgbClr val="25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59" y="457200"/>
            <a:ext cx="365760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39" y="62179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72B6"/>
                </a:solidFill>
                <a:latin typeface="Calibri"/>
              </a:rPr>
              <a:t>Cold-Read Stalls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39" y="1078992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5A7A"/>
                </a:solidFill>
                <a:latin typeface="Calibri"/>
              </a:rPr>
              <a:t>PancakeSwap v3 pool tests stall 800ms+ on first-transaction cold-reads of slot0 and tickBitmap entries, masking real performance bugs.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59" y="3474720"/>
            <a:ext cx="3657600" cy="2651760"/>
          </a:xfrm>
          <a:prstGeom prst="rect">
            <a:avLst/>
          </a:prstGeom>
          <a:solidFill>
            <a:srgbClr val="25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59" y="3474720"/>
            <a:ext cx="365760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39" y="363931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472B6"/>
                </a:solidFill>
                <a:latin typeface="Calibri"/>
              </a:rPr>
              <a:t>Mock Drift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39" y="4096511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5A7A"/>
                </a:solidFill>
                <a:latin typeface="Calibri"/>
              </a:rPr>
              <a:t>Teams resort to mocked state that drifts from mainnet within days — audits and integrations break silently on production deployment.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6492240"/>
            <a:ext cx="7772400" cy="36576"/>
          </a:xfrm>
          <a:prstGeom prst="rect">
            <a:avLst/>
          </a:prstGeom>
          <a:solidFill>
            <a:srgbClr val="9A5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6565392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A5A7A"/>
                </a:solidFill>
                <a:latin typeface="Calibri"/>
              </a:rPr>
              <a:t>Snapforge —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3200400" cy="3200400"/>
          </a:xfrm>
          <a:prstGeom prst="ellipse">
            <a:avLst/>
          </a:prstGeom>
          <a:solidFill>
            <a:srgbClr val="1F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1F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3D1030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4899"/>
                </a:solidFill>
                <a:latin typeface="Calibri"/>
              </a:rPr>
              <a:t>THE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3152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1F2"/>
                </a:solidFill>
                <a:latin typeface="Calibri"/>
              </a:rPr>
              <a:t>Snapforge: Real Mainnet State,
Instant Deterministic Forks.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02920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76272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A5A7A"/>
                </a:solidFill>
                <a:latin typeface="Calibri"/>
              </a:rPr>
              <a:t>A continuously-synced compressed snapshot layer of BNB Chain mainnet — fork any block in under 10 seconds with full copy-on-write isolation per test suite.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71800"/>
            <a:ext cx="2743200" cy="2606040"/>
          </a:xfrm>
          <a:prstGeom prst="rect">
            <a:avLst/>
          </a:prstGeom>
          <a:solidFill>
            <a:srgbClr val="25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971800"/>
            <a:ext cx="54864" cy="26060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0632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1F2"/>
                </a:solidFill>
                <a:latin typeface="Calibri"/>
              </a:rP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611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1F2"/>
                </a:solidFill>
                <a:latin typeface="Calibri"/>
              </a:rPr>
              <a:t>Sub-10s Forks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06908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5A7A"/>
                </a:solidFill>
                <a:latin typeface="Calibri"/>
              </a:rPr>
              <a:t>Patricia-trie delta compression + LZ4 delivers mainnet state in seconds, not minutes.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2971800"/>
            <a:ext cx="2743200" cy="2606040"/>
          </a:xfrm>
          <a:prstGeom prst="rect">
            <a:avLst/>
          </a:prstGeom>
          <a:solidFill>
            <a:srgbClr val="25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2971800"/>
            <a:ext cx="54864" cy="26060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84448" y="30632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1F2"/>
                </a:solidFill>
                <a:latin typeface="Calibri"/>
              </a:rPr>
              <a:t>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4448" y="3611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1F2"/>
                </a:solidFill>
                <a:latin typeface="Calibri"/>
              </a:rPr>
              <a:t>CoW Isolation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4448" y="406908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5A7A"/>
                </a:solidFill>
                <a:latin typeface="Calibri"/>
              </a:rPr>
              <a:t>16 parallel CI jobs fork the same block simultaneously — zero RPC calls, zero state collision.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971800"/>
            <a:ext cx="2743200" cy="2606040"/>
          </a:xfrm>
          <a:prstGeom prst="rect">
            <a:avLst/>
          </a:prstGeom>
          <a:solidFill>
            <a:srgbClr val="25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971800"/>
            <a:ext cx="54864" cy="26060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30632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1F2"/>
                </a:solidFill>
                <a:latin typeface="Calibri"/>
              </a:rPr>
              <a:t>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3611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1F2"/>
                </a:solidFill>
                <a:latin typeface="Calibri"/>
              </a:rPr>
              <a:t>Pre-Warmed Slots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06908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5A7A"/>
                </a:solidFill>
                <a:latin typeface="Calibri"/>
              </a:rPr>
              <a:t>50 most-called contracts pre-loaded. First PancakeSwap tx under 200ms, not 800ms+.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2971800"/>
            <a:ext cx="2743200" cy="2606040"/>
          </a:xfrm>
          <a:prstGeom prst="rect">
            <a:avLst/>
          </a:prstGeom>
          <a:solidFill>
            <a:srgbClr val="25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35440" y="2971800"/>
            <a:ext cx="54864" cy="26060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36608" y="30632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1F2"/>
                </a:solidFill>
                <a:latin typeface="Calibri"/>
              </a:rPr>
              <a:t>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36608" y="3611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1F2"/>
                </a:solidFill>
                <a:latin typeface="Calibri"/>
              </a:rPr>
              <a:t>Zero Migration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36608" y="406908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5A7A"/>
                </a:solidFill>
                <a:latin typeface="Calibri"/>
              </a:rPr>
              <a:t>Drop-in Foundry + Hardhat plugins. Replace vm.createFork() with no test-code changes.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92240"/>
            <a:ext cx="11247120" cy="36576"/>
          </a:xfrm>
          <a:prstGeom prst="rect">
            <a:avLst/>
          </a:prstGeom>
          <a:solidFill>
            <a:srgbClr val="2D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5653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5A7A"/>
                </a:solidFill>
                <a:latin typeface="Calibri"/>
              </a:rPr>
              <a:t>Snapforge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21040" y="0"/>
            <a:ext cx="3867912" cy="6858000"/>
          </a:xfrm>
          <a:prstGeom prst="rect">
            <a:avLst/>
          </a:prstGeom>
          <a:solidFill>
            <a:srgbClr val="20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321040" y="0"/>
            <a:ext cx="45720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3200400"/>
            <a:ext cx="3657600" cy="3657600"/>
          </a:xfrm>
          <a:prstGeom prst="ellipse">
            <a:avLst/>
          </a:prstGeom>
          <a:solidFill>
            <a:srgbClr val="2A0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4899"/>
                </a:solidFill>
                <a:latin typeface="Calibri"/>
              </a:rPr>
              <a:t>WHY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1F2"/>
                </a:solidFill>
                <a:latin typeface="Calibri"/>
              </a:rPr>
              <a:t>The BNB Chain
Dev Ecosystem
Reached Inflection.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347472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063240"/>
            <a:ext cx="7589520" cy="1005840"/>
          </a:xfrm>
          <a:prstGeom prst="rect">
            <a:avLst/>
          </a:prstGeom>
          <a:solidFill>
            <a:srgbClr val="25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063240"/>
            <a:ext cx="54864" cy="100584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1546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72B6"/>
                </a:solidFill>
                <a:latin typeface="Calibri"/>
              </a:rPr>
              <a:t>$4.2B TVL on BEP-20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52044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5A7A"/>
                </a:solidFill>
                <a:latin typeface="Calibri"/>
              </a:rPr>
              <a:t>PancakeSwap v3 alone handles $1.2B daily volume. Protocol teams shipping weekly need CI that keeps pace — mock-based testing is no longer viable.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51960"/>
            <a:ext cx="7589520" cy="1005840"/>
          </a:xfrm>
          <a:prstGeom prst="rect">
            <a:avLst/>
          </a:prstGeom>
          <a:solidFill>
            <a:srgbClr val="25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251960"/>
            <a:ext cx="54864" cy="100584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3434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72B6"/>
                </a:solidFill>
                <a:latin typeface="Calibri"/>
              </a:rPr>
              <a:t>Foundry Adoption Surge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7091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5A7A"/>
                </a:solidFill>
                <a:latin typeface="Calibri"/>
              </a:rPr>
              <a:t>Foundry replaced Hardhat as the dominant EVM test framework in 2024. Its vm.createFork() against public RPCs is the #1 developer pain point on BNB Chain.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440680"/>
            <a:ext cx="7589520" cy="1005840"/>
          </a:xfrm>
          <a:prstGeom prst="rect">
            <a:avLst/>
          </a:prstGeom>
          <a:solidFill>
            <a:srgbClr val="25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440680"/>
            <a:ext cx="54864" cy="100584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5321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72B6"/>
                </a:solidFill>
                <a:latin typeface="Calibri"/>
              </a:rPr>
              <a:t>CI Costs Exploding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978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5A7A"/>
                </a:solidFill>
                <a:latin typeface="Calibri"/>
              </a:rPr>
              <a:t>Teams running 16-job parallel CI suites pay $300–800/month in RPC overage fees. Snapforge eliminates that cost entirely.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91440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EC4899"/>
                </a:solidFill>
                <a:latin typeface="Calibri"/>
              </a:rPr>
              <a:t>2024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16002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A5A7A"/>
                </a:solidFill>
                <a:latin typeface="Calibri"/>
              </a:rPr>
              <a:t>Foundry surpassed Hardhat in EVM test framework adoption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2286000"/>
            <a:ext cx="2468880" cy="36576"/>
          </a:xfrm>
          <a:prstGeom prst="rect">
            <a:avLst/>
          </a:prstGeom>
          <a:solidFill>
            <a:srgbClr val="3D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0" y="274320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EC4899"/>
                </a:solidFill>
                <a:latin typeface="Calibri"/>
              </a:rPr>
              <a:t>6,000+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34290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A5A7A"/>
                </a:solidFill>
                <a:latin typeface="Calibri"/>
              </a:rPr>
              <a:t>Active BNB Chain dApp developers on mainnet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52560" y="4114800"/>
            <a:ext cx="2468880" cy="36576"/>
          </a:xfrm>
          <a:prstGeom prst="rect">
            <a:avLst/>
          </a:prstGeom>
          <a:solidFill>
            <a:srgbClr val="3D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0" y="457200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EC4899"/>
                </a:solidFill>
                <a:latin typeface="Calibri"/>
              </a:rPr>
              <a:t>$800/mo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52578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A5A7A"/>
                </a:solidFill>
                <a:latin typeface="Calibri"/>
              </a:rPr>
              <a:t>Average CI RPC cost for a 16-job parallel suite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653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5A7A"/>
                </a:solidFill>
                <a:latin typeface="Calibri"/>
              </a:rPr>
              <a:t>Snapforge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0" y="1828800"/>
            <a:ext cx="5029200" cy="5029200"/>
          </a:xfrm>
          <a:prstGeom prst="ellipse">
            <a:avLst/>
          </a:prstGeom>
          <a:solidFill>
            <a:srgbClr val="1E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43600" y="2286000"/>
            <a:ext cx="3657600" cy="3657600"/>
          </a:xfrm>
          <a:prstGeom prst="ellipse">
            <a:avLst/>
          </a:prstGeom>
          <a:solidFill>
            <a:srgbClr val="24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3D1030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4899"/>
                </a:solidFill>
                <a:latin typeface="Calibri"/>
              </a:rPr>
              <a:t>MARKET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1F2"/>
                </a:solidFill>
                <a:latin typeface="Calibri"/>
              </a:rPr>
              <a:t>A $2.1B DevTools TAM
With a Clear Entry Point.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48840"/>
            <a:ext cx="3566160" cy="4114800"/>
          </a:xfrm>
          <a:prstGeom prst="rect">
            <a:avLst/>
          </a:prstGeom>
          <a:solidFill>
            <a:srgbClr val="25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3566160" cy="6400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4899"/>
                </a:solidFill>
                <a:latin typeface="Calibri"/>
              </a:rPr>
              <a:t>TAM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97480"/>
            <a:ext cx="3200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1F2"/>
                </a:solidFill>
                <a:latin typeface="Calibri"/>
              </a:rPr>
              <a:t>$2.1B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5760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472B6"/>
                </a:solidFill>
                <a:latin typeface="Calibri"/>
              </a:rPr>
              <a:t>Total Addressable 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87368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5A7A"/>
                </a:solidFill>
                <a:latin typeface="Calibri"/>
              </a:rPr>
              <a:t>Global blockchain developer tooling market (2025E), growing at 34% CAGR driven by DeFi protocol proliferation.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2148840"/>
            <a:ext cx="3566160" cy="4114800"/>
          </a:xfrm>
          <a:prstGeom prst="rect">
            <a:avLst/>
          </a:prstGeom>
          <a:solidFill>
            <a:srgbClr val="25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2148840"/>
            <a:ext cx="3566160" cy="6400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23317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72B6"/>
                </a:solidFill>
                <a:latin typeface="Calibri"/>
              </a:rPr>
              <a:t>SAM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697480"/>
            <a:ext cx="3200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1F2"/>
                </a:solidFill>
                <a:latin typeface="Calibri"/>
              </a:rPr>
              <a:t>$420M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65760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472B6"/>
                </a:solidFill>
                <a:latin typeface="Calibri"/>
              </a:rPr>
              <a:t>Serviceable Addressable Market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087368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5A7A"/>
                </a:solidFill>
                <a:latin typeface="Calibri"/>
              </a:rPr>
              <a:t>EVM-compatible chain devtools — Ethereum, BNB Chain, Polygon, Avalanche teams using CI-integrated test infrastructure.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148840"/>
            <a:ext cx="3566160" cy="4114800"/>
          </a:xfrm>
          <a:prstGeom prst="rect">
            <a:avLst/>
          </a:prstGeom>
          <a:solidFill>
            <a:srgbClr val="25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2148840"/>
            <a:ext cx="3566160" cy="64008"/>
          </a:xfrm>
          <a:prstGeom prst="rect">
            <a:avLst/>
          </a:prstGeom>
          <a:solidFill>
            <a:srgbClr val="9A5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23317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A5A7A"/>
                </a:solidFill>
                <a:latin typeface="Calibri"/>
              </a:rPr>
              <a:t>SOM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697480"/>
            <a:ext cx="3200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1F2"/>
                </a:solidFill>
                <a:latin typeface="Calibri"/>
              </a:rPr>
              <a:t>$48M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65760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472B6"/>
                </a:solidFill>
                <a:latin typeface="Calibri"/>
              </a:rPr>
              <a:t>Serviceable Obtainable Market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087368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5A7A"/>
                </a:solidFill>
                <a:latin typeface="Calibri"/>
              </a:rPr>
              <a:t>BNB Chain-native protocol teams, auditing firms, and DeFi infrastructure builders — 6,000+ active developers today.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92240"/>
            <a:ext cx="11247120" cy="36576"/>
          </a:xfrm>
          <a:prstGeom prst="rect">
            <a:avLst/>
          </a:prstGeom>
          <a:solidFill>
            <a:srgbClr val="2D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5653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5A7A"/>
                </a:solidFill>
                <a:latin typeface="Calibri"/>
              </a:rPr>
              <a:t>Snapforge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457200"/>
            <a:ext cx="3657600" cy="3657600"/>
          </a:xfrm>
          <a:prstGeom prst="ellipse">
            <a:avLst/>
          </a:prstGeom>
          <a:solidFill>
            <a:srgbClr val="1F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C4899"/>
                </a:solidFill>
                <a:latin typeface="Calibri"/>
              </a:rPr>
              <a:t>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1F2"/>
                </a:solidFill>
                <a:latin typeface="Calibri"/>
              </a:rPr>
              <a:t>Five Capabilities That
Redefine BNB Chain Testing.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411480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057400"/>
            <a:ext cx="5486400" cy="1371600"/>
          </a:xfrm>
          <a:prstGeom prst="rect">
            <a:avLst/>
          </a:prstGeom>
          <a:solidFill>
            <a:srgbClr val="25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54864" cy="13716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14884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4899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14884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1F2"/>
                </a:solidFill>
                <a:latin typeface="Calibri"/>
              </a:rPr>
              <a:t>Sub-10s Deterministic Forks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606040"/>
            <a:ext cx="5166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A5A7A"/>
                </a:solidFill>
                <a:latin typeface="Calibri"/>
              </a:rPr>
              <a:t>snapforge fork --block latest clones real mainnet state via Patricia-trie delta compression. Any block height. Every 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057400"/>
            <a:ext cx="5486400" cy="1371600"/>
          </a:xfrm>
          <a:prstGeom prst="rect">
            <a:avLst/>
          </a:prstGeom>
          <a:solidFill>
            <a:srgbClr val="25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2057400"/>
            <a:ext cx="54864" cy="13716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14884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4899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14884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1F2"/>
                </a:solidFill>
                <a:latin typeface="Calibri"/>
              </a:rPr>
              <a:t>Copy-on-Write Parallel Isolation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606040"/>
            <a:ext cx="5166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A5A7A"/>
                </a:solidFill>
                <a:latin typeface="Calibri"/>
              </a:rPr>
              <a:t>16 CI jobs fork the same block simultaneously. Zero RPC contention. Zero state collision. Full isolation per test suite.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11880"/>
            <a:ext cx="5486400" cy="1371600"/>
          </a:xfrm>
          <a:prstGeom prst="rect">
            <a:avLst/>
          </a:prstGeom>
          <a:solidFill>
            <a:srgbClr val="25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611880"/>
            <a:ext cx="54864" cy="13716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70332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4899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70332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1F2"/>
                </a:solidFill>
                <a:latin typeface="Calibri"/>
              </a:rPr>
              <a:t>Storage Slot Pre-Warming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4160520"/>
            <a:ext cx="5166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A5A7A"/>
                </a:solidFill>
                <a:latin typeface="Calibri"/>
              </a:rPr>
              <a:t>PancakeSwap v3 slot0, tickBitmap, and BEP-20 permit state pre-loaded. First transaction under 200ms — not 800ms+.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611880"/>
            <a:ext cx="5486400" cy="1371600"/>
          </a:xfrm>
          <a:prstGeom prst="rect">
            <a:avLst/>
          </a:prstGeom>
          <a:solidFill>
            <a:srgbClr val="25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3611880"/>
            <a:ext cx="54864" cy="13716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370332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4899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70332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1F2"/>
                </a:solidFill>
                <a:latin typeface="Calibri"/>
              </a:rPr>
              <a:t>Snapshot Diffing CLI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160520"/>
            <a:ext cx="5166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A5A7A"/>
                </a:solidFill>
                <a:latin typeface="Calibri"/>
              </a:rPr>
              <a:t>snapforge diff &lt;blockA&gt; &lt;blockB&gt; surfaces human-readable storage changes across protocol contracts. Essential for post-upgrade audits.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166360"/>
            <a:ext cx="5486400" cy="1371600"/>
          </a:xfrm>
          <a:prstGeom prst="rect">
            <a:avLst/>
          </a:prstGeom>
          <a:solidFill>
            <a:srgbClr val="25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166360"/>
            <a:ext cx="54864" cy="13716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525780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4899"/>
                </a:solidFill>
                <a:latin typeface="Calibr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25780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1F2"/>
                </a:solidFill>
                <a:latin typeface="Calibri"/>
              </a:rPr>
              <a:t>Zero-Migration Plugins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5715000"/>
            <a:ext cx="5166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A5A7A"/>
                </a:solidFill>
                <a:latin typeface="Calibri"/>
              </a:rPr>
              <a:t>Native Foundry and Hardhat plugins. Replace vm.createFork() and hardhat_reset with Snapforge-backed equivalents. No test-code changes.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653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5A7A"/>
                </a:solidFill>
                <a:latin typeface="Calibri"/>
              </a:rPr>
              <a:t>Snapforge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5029200" cy="5029200"/>
          </a:xfrm>
          <a:prstGeom prst="ellipse">
            <a:avLst/>
          </a:prstGeom>
          <a:solidFill>
            <a:srgbClr val="1F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4572000"/>
            <a:ext cx="4114800" cy="4114800"/>
          </a:xfrm>
          <a:prstGeom prst="ellipse">
            <a:avLst/>
          </a:prstGeom>
          <a:solidFill>
            <a:srgbClr val="1F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C4899"/>
                </a:solidFill>
                <a:latin typeface="Calibri"/>
              </a:rPr>
              <a:t>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1F2"/>
                </a:solidFill>
                <a:latin typeface="Calibri"/>
              </a:rPr>
              <a:t>Built for Speed.
Engineered for Correctness.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457200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A5A7A"/>
                </a:solidFill>
                <a:latin typeface="Calibri"/>
              </a:rPr>
              <a:t>CORE ENGINE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423160"/>
            <a:ext cx="3566160" cy="475488"/>
          </a:xfrm>
          <a:prstGeom prst="rect">
            <a:avLst/>
          </a:prstGeom>
          <a:solidFill>
            <a:srgbClr val="3D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423160"/>
            <a:ext cx="54864" cy="47548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96312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1F2"/>
                </a:solidFill>
                <a:latin typeface="Calibri"/>
              </a:rPr>
              <a:t>Rust (core snapshot engine)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423160"/>
            <a:ext cx="3566160" cy="475488"/>
          </a:xfrm>
          <a:prstGeom prst="rect">
            <a:avLst/>
          </a:prstGeom>
          <a:solidFill>
            <a:srgbClr val="3D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423160"/>
            <a:ext cx="54864" cy="47548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496312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1F2"/>
                </a:solidFill>
                <a:latin typeface="Calibri"/>
              </a:rPr>
              <a:t>revm (EVM execution backend)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0" y="2423160"/>
            <a:ext cx="3566160" cy="475488"/>
          </a:xfrm>
          <a:prstGeom prst="rect">
            <a:avLst/>
          </a:prstGeom>
          <a:solidFill>
            <a:srgbClr val="3D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80" y="2423160"/>
            <a:ext cx="54864" cy="47548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496312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1F2"/>
                </a:solidFill>
                <a:latin typeface="Calibri"/>
              </a:rPr>
              <a:t>Patricia-trie delta compression with LZ4 backing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09067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A5A7A"/>
                </a:solidFill>
                <a:latin typeface="Calibri"/>
              </a:rPr>
              <a:t>STATE &amp; TRANSPORT LAYER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401568"/>
            <a:ext cx="3566160" cy="475488"/>
          </a:xfrm>
          <a:prstGeom prst="rect">
            <a:avLst/>
          </a:prstGeom>
          <a:solidFill>
            <a:srgbClr val="2D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401568"/>
            <a:ext cx="54864" cy="47548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47472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1F2"/>
                </a:solidFill>
                <a:latin typeface="Calibri"/>
              </a:rPr>
              <a:t>Copy-on-write in-memory state branching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3401568"/>
            <a:ext cx="3566160" cy="475488"/>
          </a:xfrm>
          <a:prstGeom prst="rect">
            <a:avLst/>
          </a:prstGeom>
          <a:solidFill>
            <a:srgbClr val="2D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401568"/>
            <a:ext cx="54864" cy="47548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47472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1F2"/>
                </a:solidFill>
                <a:latin typeface="Calibri"/>
              </a:rPr>
              <a:t>gRPC fork-state API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80" y="3401568"/>
            <a:ext cx="3566160" cy="475488"/>
          </a:xfrm>
          <a:prstGeom prst="rect">
            <a:avLst/>
          </a:prstGeom>
          <a:solidFill>
            <a:srgbClr val="2D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80" y="3401568"/>
            <a:ext cx="54864" cy="47548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347472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1F2"/>
                </a:solidFill>
                <a:latin typeface="Calibri"/>
              </a:rPr>
              <a:t>BNB Chain debug_storageRangeAt RPC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04164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A5A7A"/>
                </a:solidFill>
                <a:latin typeface="Calibri"/>
              </a:rPr>
              <a:t>INTEGRATIONS &amp; PRE-WARMING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343400"/>
            <a:ext cx="3566160" cy="475488"/>
          </a:xfrm>
          <a:prstGeom prst="rect">
            <a:avLst/>
          </a:prstGeom>
          <a:solidFill>
            <a:srgbClr val="25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4343400"/>
            <a:ext cx="54864" cy="47548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43484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1F2"/>
                </a:solidFill>
                <a:latin typeface="Calibri"/>
              </a:rPr>
              <a:t>Foundry plugin (Rust FFI)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343400"/>
            <a:ext cx="3566160" cy="475488"/>
          </a:xfrm>
          <a:prstGeom prst="rect">
            <a:avLst/>
          </a:prstGeom>
          <a:solidFill>
            <a:srgbClr val="25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43400" y="4343400"/>
            <a:ext cx="54864" cy="47548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443484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1F2"/>
                </a:solidFill>
                <a:latin typeface="Calibri"/>
              </a:rPr>
              <a:t>Hardhat plugin (TypeScript/Node.js)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83880" y="4343400"/>
            <a:ext cx="3566160" cy="475488"/>
          </a:xfrm>
          <a:prstGeom prst="rect">
            <a:avLst/>
          </a:prstGeom>
          <a:solidFill>
            <a:srgbClr val="25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83880" y="4343400"/>
            <a:ext cx="54864" cy="475488"/>
          </a:xfrm>
          <a:prstGeom prst="rect">
            <a:avLst/>
          </a:prstGeom>
          <a:solidFill>
            <a:srgbClr val="7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60" y="443484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1F2"/>
                </a:solidFill>
                <a:latin typeface="Calibri"/>
              </a:rPr>
              <a:t>GitHub Actions native runner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965192"/>
            <a:ext cx="3566160" cy="475488"/>
          </a:xfrm>
          <a:prstGeom prst="rect">
            <a:avLst/>
          </a:prstGeom>
          <a:solidFill>
            <a:srgbClr val="25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4965192"/>
            <a:ext cx="54864" cy="47548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5056631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1F2"/>
                </a:solidFill>
                <a:latin typeface="Calibri"/>
              </a:rPr>
              <a:t>BEP-20 EIP-2612 permit introspection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43400" y="4965192"/>
            <a:ext cx="3566160" cy="475488"/>
          </a:xfrm>
          <a:prstGeom prst="rect">
            <a:avLst/>
          </a:prstGeom>
          <a:solidFill>
            <a:srgbClr val="25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4965192"/>
            <a:ext cx="54864" cy="47548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26280" y="5056631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1F2"/>
                </a:solidFill>
                <a:latin typeface="Calibri"/>
              </a:rPr>
              <a:t>PancakeSwap v3 slot0 + tickBitmap pre-warming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6492240"/>
            <a:ext cx="11247120" cy="36576"/>
          </a:xfrm>
          <a:prstGeom prst="rect">
            <a:avLst/>
          </a:prstGeom>
          <a:solidFill>
            <a:srgbClr val="2D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65653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5A7A"/>
                </a:solidFill>
                <a:latin typeface="Calibri"/>
              </a:rPr>
              <a:t>Snapforge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0" y="2286000"/>
            <a:ext cx="5029200" cy="5029200"/>
          </a:xfrm>
          <a:prstGeom prst="ellipse">
            <a:avLst/>
          </a:prstGeom>
          <a:solidFill>
            <a:srgbClr val="1E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C4899"/>
                </a:solidFill>
                <a:latin typeface="Calibri"/>
              </a:rPr>
              <a:t>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85800"/>
            <a:ext cx="7772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1F2"/>
                </a:solidFill>
                <a:latin typeface="Calibri"/>
              </a:rPr>
              <a:t>MVP Benchmarks &amp;
Early Validation.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384048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5A7A"/>
                </a:solidFill>
                <a:latin typeface="Calibri"/>
              </a:rPr>
              <a:t>Snapforge is at MVP stage. The following benchmarks are recorded on a standard 4-core CI runner against BNB Chain mainnet.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743200"/>
            <a:ext cx="3566160" cy="1691640"/>
          </a:xfrm>
          <a:prstGeom prst="rect">
            <a:avLst/>
          </a:prstGeom>
          <a:solidFill>
            <a:srgbClr val="25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743200"/>
            <a:ext cx="356616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907792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1F2"/>
                </a:solidFill>
                <a:latin typeface="Calibri"/>
              </a:rPr>
              <a:t>&lt; 10s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5844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72B6"/>
                </a:solidFill>
                <a:latin typeface="Calibri"/>
              </a:rPr>
              <a:t>Fork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9136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5A7A"/>
                </a:solidFill>
                <a:latin typeface="Calibri"/>
              </a:rPr>
              <a:t>Full mainnet state clone on 4-core CI runner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2743200"/>
            <a:ext cx="3566160" cy="1691640"/>
          </a:xfrm>
          <a:prstGeom prst="rect">
            <a:avLst/>
          </a:prstGeom>
          <a:solidFill>
            <a:srgbClr val="25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2743200"/>
            <a:ext cx="356616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2907792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1F2"/>
                </a:solidFill>
                <a:latin typeface="Calibri"/>
              </a:rPr>
              <a:t>16x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35844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72B6"/>
                </a:solidFill>
                <a:latin typeface="Calibri"/>
              </a:rPr>
              <a:t>Parallel Jobs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39136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5A7A"/>
                </a:solidFill>
                <a:latin typeface="Calibri"/>
              </a:rPr>
              <a:t>Concurrent CoW forks from single snapshot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80" y="2743200"/>
            <a:ext cx="3566160" cy="1691640"/>
          </a:xfrm>
          <a:prstGeom prst="rect">
            <a:avLst/>
          </a:prstGeom>
          <a:solidFill>
            <a:srgbClr val="25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80" y="2743200"/>
            <a:ext cx="356616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8" y="2907792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1F2"/>
                </a:solidFill>
                <a:latin typeface="Calibri"/>
              </a:rPr>
              <a:t>&lt; 200ms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8" y="35844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72B6"/>
                </a:solidFill>
                <a:latin typeface="Calibri"/>
              </a:rPr>
              <a:t>First Tx Latency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39136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5A7A"/>
                </a:solidFill>
                <a:latin typeface="Calibri"/>
              </a:rPr>
              <a:t>PancakeSwap v3 with pre-warmed slots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663440"/>
            <a:ext cx="3566160" cy="1691640"/>
          </a:xfrm>
          <a:prstGeom prst="rect">
            <a:avLst/>
          </a:prstGeom>
          <a:solidFill>
            <a:srgbClr val="25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663440"/>
            <a:ext cx="3566160" cy="548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4828031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1F2"/>
                </a:solidFill>
                <a:latin typeface="Calibri"/>
              </a:rPr>
              <a:t>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" y="55046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72B6"/>
                </a:solidFill>
                <a:latin typeface="Calibri"/>
              </a:rPr>
              <a:t>Pre-Warmed Contracts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58338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5A7A"/>
                </a:solidFill>
                <a:latin typeface="Calibri"/>
              </a:rPr>
              <a:t>Including PancakeSwap v3 + BEP-20 permit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663440"/>
            <a:ext cx="3566160" cy="1691640"/>
          </a:xfrm>
          <a:prstGeom prst="rect">
            <a:avLst/>
          </a:prstGeom>
          <a:solidFill>
            <a:srgbClr val="25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43400" y="4663440"/>
            <a:ext cx="3566160" cy="548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44568" y="4828031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1F2"/>
                </a:solidFill>
                <a:latin typeface="Calibri"/>
              </a:rPr>
              <a:t>Zero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44568" y="55046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72B6"/>
                </a:solidFill>
                <a:latin typeface="Calibri"/>
              </a:rPr>
              <a:t>RPC Calls in CI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44568" y="58338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5A7A"/>
                </a:solidFill>
                <a:latin typeface="Calibri"/>
              </a:rPr>
              <a:t>After initial snapshot sync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83880" y="4663440"/>
            <a:ext cx="3566160" cy="1691640"/>
          </a:xfrm>
          <a:prstGeom prst="rect">
            <a:avLst/>
          </a:prstGeom>
          <a:solidFill>
            <a:srgbClr val="25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83880" y="4663440"/>
            <a:ext cx="3566160" cy="54864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85048" y="4828031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1F2"/>
                </a:solidFill>
                <a:latin typeface="Calibri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5048" y="55046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72B6"/>
                </a:solidFill>
                <a:latin typeface="Calibri"/>
              </a:rPr>
              <a:t>Test Code Changes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5048" y="58338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A5A7A"/>
                </a:solidFill>
                <a:latin typeface="Calibri"/>
              </a:rPr>
              <a:t>Drop-in Foundry &amp; Hardhat plugin migration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653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5A7A"/>
                </a:solidFill>
                <a:latin typeface="Calibri"/>
              </a:rPr>
              <a:t>Snapforge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114800"/>
            <a:ext cx="4114800" cy="4114800"/>
          </a:xfrm>
          <a:prstGeom prst="ellipse">
            <a:avLst/>
          </a:prstGeom>
          <a:solidFill>
            <a:srgbClr val="1E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C4899"/>
                </a:solidFill>
                <a:latin typeface="Calibri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77724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1F2"/>
                </a:solidFill>
                <a:latin typeface="Calibri"/>
              </a:rPr>
              <a:t>Three Quarters to
Full Platform.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10512"/>
            <a:ext cx="365760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788920"/>
            <a:ext cx="10972800" cy="36576"/>
          </a:xfrm>
          <a:prstGeom prst="rect">
            <a:avLst/>
          </a:prstGeom>
          <a:solidFill>
            <a:srgbClr val="3D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029968"/>
            <a:ext cx="2286000" cy="292608"/>
          </a:xfrm>
          <a:prstGeom prst="rect">
            <a:avLst/>
          </a:prstGeom>
          <a:solidFill>
            <a:srgbClr val="2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048256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55E"/>
                </a:solidFill>
                <a:latin typeface="Calibri"/>
              </a:rPr>
              <a:t>✓ SHIPPED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957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1F2"/>
                </a:solidFill>
                <a:latin typeface="Calibri"/>
              </a:rPr>
              <a:t>Q1 2026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2697480"/>
            <a:ext cx="182880" cy="1828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926080"/>
            <a:ext cx="3657600" cy="3520440"/>
          </a:xfrm>
          <a:prstGeom prst="rect">
            <a:avLst/>
          </a:prstGeom>
          <a:solidFill>
            <a:srgbClr val="25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926080"/>
            <a:ext cx="36576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035808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1F2"/>
                </a:solidFill>
                <a:latin typeface="Calibri"/>
              </a:rPr>
              <a:t>Ship a working CLI that forks BNB Chain mainnet state in under 10 seconds with CoW branch isolation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005072"/>
            <a:ext cx="3200400" cy="36576"/>
          </a:xfrm>
          <a:prstGeom prst="rect">
            <a:avLst/>
          </a:prstGeom>
          <a:solidFill>
            <a:srgbClr val="3D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4133087"/>
            <a:ext cx="9144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096511"/>
            <a:ext cx="3063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A5A7A"/>
                </a:solidFill>
                <a:latin typeface="Calibri"/>
              </a:rPr>
              <a:t>Rust snapshot engine with Patricia-trie delta compression and LZ4 storage, benchmarked at sub-10s fork time on a standard 4-core CI runner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846320"/>
            <a:ext cx="9144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4809744"/>
            <a:ext cx="3063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A5A7A"/>
                </a:solidFill>
                <a:latin typeface="Calibri"/>
              </a:rPr>
              <a:t>Copy-on-write state branching supporting at least 16 concurrent isolated forks from the same base snapshot without RPC calls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559552"/>
            <a:ext cx="9144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5522976"/>
            <a:ext cx="3063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A5A7A"/>
                </a:solidFill>
                <a:latin typeface="Calibri"/>
              </a:rPr>
              <a:t>Public CLI release of `snapforge fork --block latest` with documented install path via cargo and a Homebrew tap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2029968"/>
            <a:ext cx="2286000" cy="292608"/>
          </a:xfrm>
          <a:prstGeom prst="rect">
            <a:avLst/>
          </a:prstGeom>
          <a:solidFill>
            <a:srgbClr val="2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07408" y="2048256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C4899"/>
                </a:solidFill>
                <a:latin typeface="Calibri"/>
              </a:rPr>
              <a:t>⚡ IN PROGRESS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23957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1F2"/>
                </a:solidFill>
                <a:latin typeface="Calibri"/>
              </a:rPr>
              <a:t>Q2 2026</a:t>
            </a:r>
          </a:p>
        </p:txBody>
      </p:sp>
      <p:sp>
        <p:nvSpPr>
          <p:cNvPr id="26" name="Oval 25"/>
          <p:cNvSpPr/>
          <p:nvPr/>
        </p:nvSpPr>
        <p:spPr>
          <a:xfrm>
            <a:off x="4389120" y="2697480"/>
            <a:ext cx="182880" cy="1828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2926080"/>
            <a:ext cx="3657600" cy="3520440"/>
          </a:xfrm>
          <a:prstGeom prst="rect">
            <a:avLst/>
          </a:prstGeom>
          <a:solidFill>
            <a:srgbClr val="25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2926080"/>
            <a:ext cx="365760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3035808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1F2"/>
                </a:solidFill>
                <a:latin typeface="Calibri"/>
              </a:rPr>
              <a:t>Release native Foundry and Hardhat plugins and the PancakeSwap v3 storage pre-warming registry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60" y="4005072"/>
            <a:ext cx="3200400" cy="36576"/>
          </a:xfrm>
          <a:prstGeom prst="rect">
            <a:avLst/>
          </a:prstGeom>
          <a:solidFill>
            <a:srgbClr val="3D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80560" y="4133087"/>
            <a:ext cx="91440" cy="914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1728" y="4096511"/>
            <a:ext cx="3063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A5A7A"/>
                </a:solidFill>
                <a:latin typeface="Calibri"/>
              </a:rPr>
              <a:t>Foundry plugin replacing vm.createFork() with a Snapforge-backed equivalent, published to the Foundry registry with zero test-code-change migration path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60" y="4846320"/>
            <a:ext cx="91440" cy="914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81728" y="4809744"/>
            <a:ext cx="3063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A5A7A"/>
                </a:solidFill>
                <a:latin typeface="Calibri"/>
              </a:rPr>
              <a:t>Hardhat plugin replacing hardhat_reset via gRPC fork-state API, distributed as an npm package with TypeScript typings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60" y="5559552"/>
            <a:ext cx="91440" cy="914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81728" y="5522976"/>
            <a:ext cx="3063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A5A7A"/>
                </a:solidFill>
                <a:latin typeface="Calibri"/>
              </a:rPr>
              <a:t>PancakeSwap v3 and BEP-20 permit slot pre-warming registry covering the 50 most-called mainnet contracts, reducing first-transaction latency to under 200ms in benchmarks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92440" y="2029968"/>
            <a:ext cx="2286000" cy="292608"/>
          </a:xfrm>
          <a:prstGeom prst="rect">
            <a:avLst/>
          </a:prstGeom>
          <a:solidFill>
            <a:srgbClr val="2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02167" y="2048256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A5A7A"/>
                </a:solidFill>
                <a:latin typeface="Calibri"/>
              </a:rPr>
              <a:t>◦ UPCOMING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23957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1F2"/>
                </a:solidFill>
                <a:latin typeface="Calibri"/>
              </a:rPr>
              <a:t>Q3 2026</a:t>
            </a:r>
          </a:p>
        </p:txBody>
      </p:sp>
      <p:sp>
        <p:nvSpPr>
          <p:cNvPr id="40" name="Oval 39"/>
          <p:cNvSpPr/>
          <p:nvPr/>
        </p:nvSpPr>
        <p:spPr>
          <a:xfrm>
            <a:off x="8183879" y="2697480"/>
            <a:ext cx="182880" cy="182880"/>
          </a:xfrm>
          <a:prstGeom prst="ellipse">
            <a:avLst/>
          </a:prstGeom>
          <a:solidFill>
            <a:srgbClr val="9A5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92440" y="2926080"/>
            <a:ext cx="3657600" cy="3520440"/>
          </a:xfrm>
          <a:prstGeom prst="rect">
            <a:avLst/>
          </a:prstGeom>
          <a:solidFill>
            <a:srgbClr val="25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92440" y="2926080"/>
            <a:ext cx="3657600" cy="54864"/>
          </a:xfrm>
          <a:prstGeom prst="rect">
            <a:avLst/>
          </a:prstGeom>
          <a:solidFill>
            <a:srgbClr val="9A5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5319" y="3035808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1F2"/>
                </a:solidFill>
                <a:latin typeface="Calibri"/>
              </a:rPr>
              <a:t>Launch snapshot diffing tooling and a managed cloud snapshot service with GitHub Actions integration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75319" y="4005072"/>
            <a:ext cx="3200400" cy="36576"/>
          </a:xfrm>
          <a:prstGeom prst="rect">
            <a:avLst/>
          </a:prstGeom>
          <a:solidFill>
            <a:srgbClr val="3D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75319" y="4133087"/>
            <a:ext cx="91440" cy="91440"/>
          </a:xfrm>
          <a:prstGeom prst="rect">
            <a:avLst/>
          </a:prstGeom>
          <a:solidFill>
            <a:srgbClr val="9A5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76488" y="4096511"/>
            <a:ext cx="3063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A5A7A"/>
                </a:solidFill>
                <a:latin typeface="Calibri"/>
              </a:rPr>
              <a:t>snapforge diff &lt;blockA&gt; &lt;blockB&gt; CLI command producing human-readable storage change reports scoped to named protocol contracts, with JSON and terminal output modes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75319" y="4846320"/>
            <a:ext cx="91440" cy="91440"/>
          </a:xfrm>
          <a:prstGeom prst="rect">
            <a:avLst/>
          </a:prstGeom>
          <a:solidFill>
            <a:srgbClr val="9A5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76488" y="4809744"/>
            <a:ext cx="3063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A5A7A"/>
                </a:solidFill>
                <a:latin typeface="Calibri"/>
              </a:rPr>
              <a:t>Managed snapshot subscription service hosting continuously-synced BNB Chain state, eliminating the need for teams to run their own snapshot node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75319" y="5559552"/>
            <a:ext cx="91440" cy="91440"/>
          </a:xfrm>
          <a:prstGeom prst="rect">
            <a:avLst/>
          </a:prstGeom>
          <a:solidFill>
            <a:srgbClr val="9A5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76488" y="5522976"/>
            <a:ext cx="3063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A5A7A"/>
                </a:solidFill>
                <a:latin typeface="Calibri"/>
              </a:rPr>
              <a:t>Official GitHub Actions action (snapforge-action) enabling one-line CI setup with cache-aware snapshot fetching and automatic fork cleanup after job completion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5653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A5A7A"/>
                </a:solidFill>
                <a:latin typeface="Calibri"/>
              </a:rPr>
              <a:t>Snapforge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-1371600"/>
            <a:ext cx="6400800" cy="6400800"/>
          </a:xfrm>
          <a:prstGeom prst="ellipse">
            <a:avLst/>
          </a:prstGeom>
          <a:solidFill>
            <a:srgbClr val="2D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0" y="2286000"/>
            <a:ext cx="5486400" cy="5486400"/>
          </a:xfrm>
          <a:prstGeom prst="ellipse">
            <a:avLst/>
          </a:prstGeom>
          <a:solidFill>
            <a:srgbClr val="1F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5029200"/>
            <a:ext cx="3200400" cy="3200400"/>
          </a:xfrm>
          <a:prstGeom prst="ellipse">
            <a:avLst/>
          </a:prstGeom>
          <a:solidFill>
            <a:srgbClr val="2D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2286000"/>
            <a:ext cx="11887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>
                <a:solidFill>
                  <a:srgbClr val="200B14"/>
                </a:solidFill>
                <a:latin typeface="Calibri"/>
              </a:rPr>
              <a:t>SNAPFORGE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86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3D1030"/>
                </a:solidFill>
                <a:latin typeface="Calibr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4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C4899"/>
                </a:solidFill>
                <a:latin typeface="Calibri"/>
              </a:rPr>
              <a:t>JOIN THE WAITLIST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749808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1F2"/>
                </a:solidFill>
                <a:latin typeface="Calibri"/>
              </a:rPr>
              <a:t>Stop Waiting for Forks.
Ship Faster.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788920"/>
            <a:ext cx="5788152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944368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A5A7A"/>
                </a:solidFill>
                <a:latin typeface="Calibri"/>
              </a:rPr>
              <a:t>BNB Chain protocol teams: get early access to Snapforge and cut your CI fork time from minutes to seconds. Zero test-code changes. Full mainnet fidelity.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3931920"/>
            <a:ext cx="3200400" cy="65836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06040" y="4005072"/>
            <a:ext cx="3108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Request Early Access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931920"/>
            <a:ext cx="3200400" cy="658368"/>
          </a:xfrm>
          <a:prstGeom prst="rect">
            <a:avLst/>
          </a:prstGeom>
          <a:solidFill>
            <a:srgbClr val="25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3931920"/>
            <a:ext cx="3200400" cy="658368"/>
          </a:xfrm>
          <a:prstGeom prst="rect">
            <a:avLst/>
          </a:prstGeom>
          <a:solidFill>
            <a:srgbClr val="25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931920"/>
            <a:ext cx="36576" cy="65836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90304" y="3931920"/>
            <a:ext cx="36576" cy="65836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3931920"/>
            <a:ext cx="320040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4553712"/>
            <a:ext cx="320040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4005072"/>
            <a:ext cx="3108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C4899"/>
                </a:solidFill>
                <a:latin typeface="Calibri"/>
              </a:rPr>
              <a:t>View on GitHub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846320"/>
            <a:ext cx="9445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A5A7A"/>
                </a:solidFill>
                <a:latin typeface="Calibri"/>
              </a:rPr>
              <a:t>snapforge.dev  ·  @snapforge_dev  ·  hello@snapforge.dev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0" y="5486400"/>
            <a:ext cx="2651760" cy="347472"/>
          </a:xfrm>
          <a:prstGeom prst="rect">
            <a:avLst/>
          </a:prstGeom>
          <a:solidFill>
            <a:srgbClr val="2D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45920" y="5486400"/>
            <a:ext cx="54864" cy="34747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10512" y="552297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472B6"/>
                </a:solidFill>
                <a:latin typeface="Calibri"/>
              </a:rPr>
              <a:t>Sub-10s Forks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5486400"/>
            <a:ext cx="2651760" cy="347472"/>
          </a:xfrm>
          <a:prstGeom prst="rect">
            <a:avLst/>
          </a:prstGeom>
          <a:solidFill>
            <a:srgbClr val="2D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63440" y="5486400"/>
            <a:ext cx="54864" cy="34747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28031" y="552297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472B6"/>
                </a:solidFill>
                <a:latin typeface="Calibri"/>
              </a:rPr>
              <a:t>CoW Parallel Isolation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0" y="5486400"/>
            <a:ext cx="2651760" cy="347472"/>
          </a:xfrm>
          <a:prstGeom prst="rect">
            <a:avLst/>
          </a:prstGeom>
          <a:solidFill>
            <a:srgbClr val="2D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80960" y="5486400"/>
            <a:ext cx="54864" cy="34747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45552" y="552297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472B6"/>
                </a:solidFill>
                <a:latin typeface="Calibri"/>
              </a:rPr>
              <a:t>Zero Migration Cost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9224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A5A7A"/>
                </a:solidFill>
                <a:latin typeface="Calibri"/>
              </a:rPr>
              <a:t>BNB Chain  ·  MVP Stage  ·  Founded by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